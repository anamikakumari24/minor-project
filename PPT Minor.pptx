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70" r:id="rId7"/>
    <p:sldId id="265" r:id="rId8"/>
    <p:sldId id="260" r:id="rId9"/>
    <p:sldId id="271" r:id="rId10"/>
    <p:sldId id="272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DA0CF-AB24-439F-9A1F-776E68D1DD98}" v="31" dt="2026-04-28T16:40:17.7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7BB510-1730-43B6-B0DD-BC44393331C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CC3C3-C1D2-4BA5-902B-D09A79D37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465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0010" y="2048917"/>
            <a:ext cx="106984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5AA8"/>
                </a:solidFill>
                <a:latin typeface="Calibri"/>
              </a:defRPr>
            </a:pPr>
            <a:r>
              <a:rPr lang="en-GB" sz="3000" b="1" dirty="0"/>
              <a:t>Thermohydraulic Performance of Plain Twisted Tape Inserts with Oxide Nanofluids in Turbulent Tube Flow </a:t>
            </a:r>
            <a:endParaRPr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55555"/>
                </a:solidFill>
                <a:latin typeface="Calibri"/>
              </a:defRPr>
            </a:pPr>
            <a:r>
              <a:rPr dirty="0"/>
              <a:t>ME1406: Minor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5387" y="3931920"/>
            <a:ext cx="1034122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C2C2C"/>
                </a:solidFill>
                <a:latin typeface="Calibri"/>
              </a:defRPr>
            </a:pPr>
            <a:r>
              <a:rPr dirty="0"/>
              <a:t>Presenters: </a:t>
            </a:r>
            <a:r>
              <a:rPr lang="en-US" dirty="0"/>
              <a:t>Anamika Kumari (2024UGME048) </a:t>
            </a:r>
            <a:r>
              <a:rPr dirty="0"/>
              <a:t>· </a:t>
            </a:r>
            <a:r>
              <a:rPr lang="en-US" dirty="0"/>
              <a:t>Aniket Aryan (2024UGME028) </a:t>
            </a:r>
            <a:r>
              <a:rPr dirty="0"/>
              <a:t>· </a:t>
            </a:r>
            <a:r>
              <a:rPr lang="en-US" dirty="0"/>
              <a:t>Vimal Kumar(2024UGME042)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664447" y="4480560"/>
            <a:ext cx="283263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C2C2C"/>
                </a:solidFill>
                <a:latin typeface="Calibri"/>
              </a:defRPr>
            </a:pPr>
            <a:r>
              <a:rPr lang="en-US" dirty="0"/>
              <a:t>Supervisor</a:t>
            </a:r>
            <a:r>
              <a:rPr dirty="0"/>
              <a:t>: </a:t>
            </a:r>
            <a:r>
              <a:rPr lang="en-US" dirty="0"/>
              <a:t>Dr. Laljee Prasad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55555"/>
                </a:solidFill>
                <a:latin typeface="Calibri"/>
              </a:defRPr>
            </a:pPr>
            <a:r>
              <a:rPr dirty="0"/>
              <a:t>Department of Mechanical Engineering, NIT Jamshedpur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F05D65-F79D-7FB7-1DDF-29CFAFA26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787" y="383684"/>
            <a:ext cx="1331674" cy="16100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5AA8"/>
                </a:solidFill>
                <a:latin typeface="Calibri"/>
              </a:defRPr>
            </a:pPr>
            <a:r>
              <a:rPr dirty="0"/>
              <a:t>The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92A3FF-52DB-51D9-6E61-8036DAB93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58" y="1815003"/>
            <a:ext cx="6156959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Performance Study:</a:t>
            </a:r>
            <a:r>
              <a:rPr lang="en-GB" sz="2000" dirty="0"/>
              <a:t> To investigate thermohydraulic performance of plain twisted tape inserts in turbulent tube flow.</a:t>
            </a:r>
          </a:p>
          <a:p>
            <a:r>
              <a:rPr lang="en-GB" sz="2000" b="1" dirty="0"/>
              <a:t>Nanofluid Comparison:</a:t>
            </a:r>
            <a:r>
              <a:rPr lang="en-GB" sz="2000" dirty="0"/>
              <a:t> To compare GO/water, CuO/water, and Al₂O₃/water as working fluids.</a:t>
            </a:r>
          </a:p>
          <a:p>
            <a:r>
              <a:rPr lang="en-GB" sz="2000" b="1" dirty="0"/>
              <a:t>Twist Ratio Analysis:</a:t>
            </a:r>
            <a:r>
              <a:rPr lang="en-GB" sz="2000" dirty="0"/>
              <a:t> To study the effect of twist ratios 2, 3, and 4 on heat transfer and friction.</a:t>
            </a:r>
          </a:p>
          <a:p>
            <a:r>
              <a:rPr lang="en-GB" sz="2000" b="1" dirty="0"/>
              <a:t>Flow and Concentration Effect:</a:t>
            </a:r>
            <a:r>
              <a:rPr lang="en-GB" sz="2000" dirty="0"/>
              <a:t> To evaluate Reynolds number and nanoparticle concentration effects on system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F61571-2EBB-EBA7-8F5F-3B04CC422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220" y="2124185"/>
            <a:ext cx="4827639" cy="26506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5AA8"/>
                </a:solidFill>
                <a:latin typeface="Calibri"/>
              </a:defRPr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6719" y="1668574"/>
            <a:ext cx="646569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Heat Transfer Need:</a:t>
            </a:r>
            <a:r>
              <a:rPr lang="en-GB" sz="2000" dirty="0"/>
              <a:t> Heat transfer enhancement is essential for improving thermal system efficiency in compact heat exchangers.</a:t>
            </a:r>
          </a:p>
          <a:p>
            <a:r>
              <a:rPr lang="en-GB" sz="2000" b="1" dirty="0"/>
              <a:t>Passive Technique:</a:t>
            </a:r>
            <a:r>
              <a:rPr lang="en-GB" sz="2000" dirty="0"/>
              <a:t> Twisted tape inserts improve mixing and disturb the boundary layer, leading to better convective heat transfer.</a:t>
            </a:r>
          </a:p>
          <a:p>
            <a:r>
              <a:rPr lang="en-GB" sz="2000" b="1" dirty="0"/>
              <a:t>Nanofluid Advantage:</a:t>
            </a:r>
            <a:r>
              <a:rPr lang="en-GB" sz="2000" dirty="0"/>
              <a:t> Oxide nanofluids offer higher thermal conductivity than water and can improve thermal performance.</a:t>
            </a:r>
          </a:p>
          <a:p>
            <a:r>
              <a:rPr lang="en-GB" sz="2000" b="1" dirty="0"/>
              <a:t>Combined Effect:</a:t>
            </a:r>
            <a:r>
              <a:rPr lang="en-GB" sz="2000" dirty="0"/>
              <a:t> Using twisted tape inserts with nanofluids can improve heat transfer, though pressure drop must also be considered.</a:t>
            </a:r>
          </a:p>
          <a:p>
            <a:pPr>
              <a:spcAft>
                <a:spcPts val="1800"/>
              </a:spcAft>
              <a:defRPr sz="2000">
                <a:solidFill>
                  <a:srgbClr val="2C2C2C"/>
                </a:solidFill>
                <a:latin typeface="Calibri"/>
              </a:defRPr>
            </a:pPr>
            <a:endParaRPr sz="2000" dirty="0">
              <a:solidFill>
                <a:srgbClr val="2C2C2C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B92FCF-9093-E72C-A662-9723FDDA6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566" y="1897626"/>
            <a:ext cx="4811547" cy="32076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AE185-8709-36E9-0A6C-D1237E906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3AA17F-1F2D-D3AB-9521-AE3E5FD98324}"/>
              </a:ext>
            </a:extLst>
          </p:cNvPr>
          <p:cNvSpPr txBox="1"/>
          <p:nvPr/>
        </p:nvSpPr>
        <p:spPr>
          <a:xfrm>
            <a:off x="54864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5AA8"/>
                </a:solidFill>
                <a:latin typeface="Calibri"/>
              </a:defRPr>
            </a:pPr>
            <a:r>
              <a:rPr lang="en-US" dirty="0"/>
              <a:t>Experimental Setup &amp; Methodology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FC169B-5A2A-1266-A441-768D454FAA74}"/>
              </a:ext>
            </a:extLst>
          </p:cNvPr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C906E-BF25-A9EB-C1FE-D29A9A065607}"/>
              </a:ext>
            </a:extLst>
          </p:cNvPr>
          <p:cNvSpPr txBox="1"/>
          <p:nvPr/>
        </p:nvSpPr>
        <p:spPr>
          <a:xfrm>
            <a:off x="426720" y="1489928"/>
            <a:ext cx="6170725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Test Setup:</a:t>
            </a:r>
            <a:r>
              <a:rPr lang="en-IN" dirty="0"/>
              <a:t> GI tube of 800 mm length and 20 mm inner diameter fitted with plain twisted tape inserts of 18 mm width and 2 mm thickness at TR = 2, 3, and 4.</a:t>
            </a:r>
          </a:p>
          <a:p>
            <a:r>
              <a:rPr lang="en-IN" b="1" dirty="0"/>
              <a:t>Instrumentation:</a:t>
            </a:r>
            <a:r>
              <a:rPr lang="en-IN" dirty="0"/>
              <a:t> Nichrome wire heater, K-type thermocouples, RTD Pt-100, rotameter, and U-tube manometer used for thermal and hydraulic measurements.</a:t>
            </a:r>
          </a:p>
          <a:p>
            <a:r>
              <a:rPr lang="en-IN" b="1" dirty="0"/>
              <a:t>Nanofluids:</a:t>
            </a:r>
            <a:r>
              <a:rPr lang="en-IN" dirty="0"/>
              <a:t> Water, GO/water, CuO/water, and Al₂O₃/water tested at 0.1%, 0.3%, and 0.5% concentrations.</a:t>
            </a:r>
          </a:p>
          <a:p>
            <a:r>
              <a:rPr lang="en-IN" b="1" dirty="0"/>
              <a:t>Methodology:</a:t>
            </a:r>
            <a:r>
              <a:rPr lang="en-IN" dirty="0"/>
              <a:t> Nanofluids were prepared using the two-step method with 90 min ultrasonication, and experiments were conducted after achieving steady-state conditions.</a:t>
            </a:r>
          </a:p>
          <a:p>
            <a:r>
              <a:rPr lang="en-IN" b="1" dirty="0"/>
              <a:t>Analysis:</a:t>
            </a:r>
            <a:r>
              <a:rPr lang="en-IN" dirty="0"/>
              <a:t> Heat transfer and flow performance were evaluated using Nusselt number, friction factor, and thermohydraulic performance parameter.</a:t>
            </a:r>
          </a:p>
          <a:p>
            <a:br>
              <a:rPr lang="en-IN" sz="2000" dirty="0"/>
            </a:br>
            <a:endParaRPr sz="200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4" name="AutoShape 2" descr="Technical summary table with parameters">
            <a:extLst>
              <a:ext uri="{FF2B5EF4-FFF2-40B4-BE49-F238E27FC236}">
                <a16:creationId xmlns:a16="http://schemas.microsoft.com/office/drawing/2014/main" id="{432C5FD9-3B14-F7A4-0507-87DF442B2E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B14D4-C07C-9100-4B98-E42D9790F6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00" t="15151"/>
          <a:stretch>
            <a:fillRect/>
          </a:stretch>
        </p:blipFill>
        <p:spPr>
          <a:xfrm>
            <a:off x="6573387" y="1762045"/>
            <a:ext cx="5191893" cy="35010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7064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5AA8"/>
                </a:solidFill>
                <a:latin typeface="Calibri"/>
              </a:defRPr>
            </a:pPr>
            <a:r>
              <a:rPr lang="en-US" dirty="0"/>
              <a:t>Performance Parameters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4692" y="1678349"/>
            <a:ext cx="627342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Nusselt Number:</a:t>
            </a:r>
            <a:r>
              <a:rPr lang="en-GB" dirty="0"/>
              <a:t> Indicates the extent of convective heat transfer enhancement achieved in the tube. Higher values reflect better thermal performance.</a:t>
            </a:r>
          </a:p>
          <a:p>
            <a:endParaRPr lang="en-GB" dirty="0"/>
          </a:p>
          <a:p>
            <a:r>
              <a:rPr lang="en-GB" b="1" dirty="0"/>
              <a:t>Friction Factor:</a:t>
            </a:r>
            <a:r>
              <a:rPr lang="en-GB" dirty="0"/>
              <a:t> Represents the pressure-drop penalty and flow resistance caused by the insert-fluid combination. Higher values indicate greater hydraulic loss.</a:t>
            </a:r>
          </a:p>
          <a:p>
            <a:endParaRPr lang="en-GB" dirty="0"/>
          </a:p>
          <a:p>
            <a:r>
              <a:rPr lang="en-GB" b="1" dirty="0"/>
              <a:t>Thermohydraulic Performance:</a:t>
            </a:r>
            <a:r>
              <a:rPr lang="en-GB" dirty="0"/>
              <a:t> Measures the overall benefit of heat transfer enhancement relative to the pressure-drop penalty, helping identify the best practical configuration.</a:t>
            </a:r>
          </a:p>
          <a:p>
            <a:br>
              <a:rPr lang="en-GB" sz="2000" dirty="0"/>
            </a:br>
            <a:endParaRPr lang="en-US" sz="2000" dirty="0">
              <a:solidFill>
                <a:srgbClr val="2C2C2C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1A83A-A597-DAC9-8BED-CCC3D542C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89" y="1226916"/>
            <a:ext cx="3913238" cy="51345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474CA-8737-947E-DC9E-3C8E2C17B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FBC2E3-F281-4169-0366-A8FF0618112D}"/>
              </a:ext>
            </a:extLst>
          </p:cNvPr>
          <p:cNvSpPr txBox="1"/>
          <p:nvPr/>
        </p:nvSpPr>
        <p:spPr>
          <a:xfrm>
            <a:off x="54864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5AA8"/>
                </a:solidFill>
                <a:latin typeface="Calibri"/>
              </a:defRPr>
            </a:pPr>
            <a:r>
              <a:rPr lang="en-US" dirty="0"/>
              <a:t>Observations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BA74AA-87AD-1FAE-F623-00B445F5FA39}"/>
              </a:ext>
            </a:extLst>
          </p:cNvPr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508C06-27AD-8359-ABAA-03AAC21B5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6" y="1614441"/>
            <a:ext cx="5427407" cy="32322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AF970A-870B-AD18-CF51-CB166B857A6E}"/>
              </a:ext>
            </a:extLst>
          </p:cNvPr>
          <p:cNvSpPr txBox="1"/>
          <p:nvPr/>
        </p:nvSpPr>
        <p:spPr>
          <a:xfrm>
            <a:off x="924226" y="5058893"/>
            <a:ext cx="4414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Nusselt number is maximum for  GO/Water, signifying high heat transfer rate.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773BB4-D10F-0572-5D17-3164290F6316}"/>
              </a:ext>
            </a:extLst>
          </p:cNvPr>
          <p:cNvSpPr txBox="1"/>
          <p:nvPr/>
        </p:nvSpPr>
        <p:spPr>
          <a:xfrm>
            <a:off x="6813755" y="5014450"/>
            <a:ext cx="41393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Friction factor is lowest for GO/water among all nanofluids, signifying lowest pressure drop among nanofluids.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F6417C-A309-704D-97F4-B0A437D9F9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2" t="34598" r="53187" b="51876"/>
          <a:stretch>
            <a:fillRect/>
          </a:stretch>
        </p:blipFill>
        <p:spPr>
          <a:xfrm>
            <a:off x="255640" y="1481832"/>
            <a:ext cx="5506064" cy="336490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1857511-2FCA-EBDF-A4E0-9F64D7A5C7F8}"/>
              </a:ext>
            </a:extLst>
          </p:cNvPr>
          <p:cNvGrpSpPr/>
          <p:nvPr/>
        </p:nvGrpSpPr>
        <p:grpSpPr>
          <a:xfrm>
            <a:off x="924226" y="3974276"/>
            <a:ext cx="4837477" cy="369332"/>
            <a:chOff x="589933" y="6173566"/>
            <a:chExt cx="4837477" cy="3693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E046B7-1AEB-C87A-FD4D-904A7D963BB6}"/>
                </a:ext>
              </a:extLst>
            </p:cNvPr>
            <p:cNvSpPr/>
            <p:nvPr/>
          </p:nvSpPr>
          <p:spPr>
            <a:xfrm>
              <a:off x="589933" y="6251815"/>
              <a:ext cx="4837477" cy="21283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E11E63-FC73-F96B-50E5-3C327BB30F6E}"/>
                </a:ext>
              </a:extLst>
            </p:cNvPr>
            <p:cNvSpPr txBox="1"/>
            <p:nvPr/>
          </p:nvSpPr>
          <p:spPr>
            <a:xfrm>
              <a:off x="924226" y="6173566"/>
              <a:ext cx="35926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10000	14000	18000	12000 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1775932-C5F4-15DA-B588-7D8D4E639B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11" t="48543" r="52639" b="38806"/>
          <a:stretch>
            <a:fillRect/>
          </a:stretch>
        </p:blipFill>
        <p:spPr>
          <a:xfrm>
            <a:off x="6631465" y="1437259"/>
            <a:ext cx="4445876" cy="345405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E55E8EA-6C09-2543-578B-B700E7E8EECB}"/>
              </a:ext>
            </a:extLst>
          </p:cNvPr>
          <p:cNvGrpSpPr/>
          <p:nvPr/>
        </p:nvGrpSpPr>
        <p:grpSpPr>
          <a:xfrm>
            <a:off x="6992102" y="4343608"/>
            <a:ext cx="3946366" cy="276999"/>
            <a:chOff x="2033752" y="5937780"/>
            <a:chExt cx="3946366" cy="27699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26F648-3F4E-FBB9-EFD7-1768AE822EE6}"/>
                </a:ext>
              </a:extLst>
            </p:cNvPr>
            <p:cNvSpPr/>
            <p:nvPr/>
          </p:nvSpPr>
          <p:spPr>
            <a:xfrm>
              <a:off x="2033752" y="5937780"/>
              <a:ext cx="3941379" cy="20845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97248A-99D4-7C2D-4676-6482F92C4A49}"/>
                </a:ext>
              </a:extLst>
            </p:cNvPr>
            <p:cNvSpPr txBox="1"/>
            <p:nvPr/>
          </p:nvSpPr>
          <p:spPr>
            <a:xfrm>
              <a:off x="2453190" y="5937780"/>
              <a:ext cx="35269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10000	     12000    14000     16000        18000    22000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320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2F89C-DCC0-450F-2DAC-82278A8D3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B623E2-A5D7-FB9C-CEB2-BCFE1CDF06CF}"/>
              </a:ext>
            </a:extLst>
          </p:cNvPr>
          <p:cNvSpPr txBox="1"/>
          <p:nvPr/>
        </p:nvSpPr>
        <p:spPr>
          <a:xfrm>
            <a:off x="54864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5AA8"/>
                </a:solidFill>
                <a:latin typeface="Calibri"/>
              </a:defRPr>
            </a:pPr>
            <a:r>
              <a:rPr lang="en-US" dirty="0"/>
              <a:t>Thermophysical Properties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B29178-2C66-2D52-FCED-468957C5A629}"/>
              </a:ext>
            </a:extLst>
          </p:cNvPr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A2E95-F610-8195-F366-6EB6E549C2F3}"/>
              </a:ext>
            </a:extLst>
          </p:cNvPr>
          <p:cNvSpPr txBox="1"/>
          <p:nvPr/>
        </p:nvSpPr>
        <p:spPr>
          <a:xfrm>
            <a:off x="442006" y="1527971"/>
            <a:ext cx="56692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Density Trend:</a:t>
            </a:r>
            <a:r>
              <a:rPr lang="en-GB" sz="2000" dirty="0"/>
              <a:t> Nanofluid density increases with particle concentration.</a:t>
            </a:r>
          </a:p>
          <a:p>
            <a:r>
              <a:rPr lang="en-GB" sz="2000" b="1" dirty="0"/>
              <a:t>Viscosity Trend:</a:t>
            </a:r>
            <a:r>
              <a:rPr lang="en-GB" sz="2000" dirty="0"/>
              <a:t> Viscosity increases with concentration, contributing to higher friction losses.</a:t>
            </a:r>
          </a:p>
          <a:p>
            <a:r>
              <a:rPr lang="en-GB" sz="2000" b="1" dirty="0"/>
              <a:t>Specific Heat:</a:t>
            </a:r>
            <a:r>
              <a:rPr lang="en-GB" sz="2000" dirty="0"/>
              <a:t> Effective specific heat changes with nanoparticle loading.</a:t>
            </a:r>
          </a:p>
          <a:p>
            <a:r>
              <a:rPr lang="en-GB" sz="2000" b="1" dirty="0"/>
              <a:t>Thermal Conductivity:</a:t>
            </a:r>
            <a:r>
              <a:rPr lang="en-GB" sz="2000" dirty="0"/>
              <a:t> GO/water shows the highest conductivity enhancement among the tested nanofluids.</a:t>
            </a:r>
          </a:p>
          <a:p>
            <a:r>
              <a:rPr lang="en-GB" sz="2000" b="1" dirty="0"/>
              <a:t>Overall Effect:</a:t>
            </a:r>
            <a:r>
              <a:rPr lang="en-GB" sz="2000" dirty="0"/>
              <a:t> Improved thermophysical properties support higher heat transfer performance.</a:t>
            </a:r>
          </a:p>
          <a:p>
            <a:pPr>
              <a:spcAft>
                <a:spcPts val="1800"/>
              </a:spcAft>
              <a:defRPr sz="2000">
                <a:solidFill>
                  <a:srgbClr val="2C2C2C"/>
                </a:solidFill>
                <a:latin typeface="Calibri"/>
              </a:defRPr>
            </a:pPr>
            <a:endParaRPr lang="en-US" sz="2000" dirty="0">
              <a:solidFill>
                <a:srgbClr val="2C2C2C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DD23E-A168-2CB0-2D2C-CE0035FD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584" y="1379573"/>
            <a:ext cx="5093277" cy="42458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6A732F-874C-136C-F4F8-5658DBDF9C13}"/>
              </a:ext>
            </a:extLst>
          </p:cNvPr>
          <p:cNvSpPr txBox="1"/>
          <p:nvPr/>
        </p:nvSpPr>
        <p:spPr>
          <a:xfrm>
            <a:off x="7325033" y="5559429"/>
            <a:ext cx="3746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High thermal conductivity is the reason why GO/water provides best heat transfer.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9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5AA8"/>
                </a:solidFill>
                <a:latin typeface="Calibri"/>
              </a:defRPr>
            </a:pPr>
            <a:r>
              <a:rPr lang="en-GB" dirty="0"/>
              <a:t>Effect of Twist Ratio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BFADE-0B60-3C4C-7E65-23D5317A62FD}"/>
              </a:ext>
            </a:extLst>
          </p:cNvPr>
          <p:cNvSpPr txBox="1"/>
          <p:nvPr/>
        </p:nvSpPr>
        <p:spPr>
          <a:xfrm>
            <a:off x="780712" y="1628927"/>
            <a:ext cx="4823676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/>
              <a:t>Heat Transfer Enhancement:</a:t>
            </a:r>
            <a:r>
              <a:rPr lang="en-GB" sz="2200" dirty="0"/>
              <a:t> Nusselt number increases as twist ratio decreases.</a:t>
            </a:r>
          </a:p>
          <a:p>
            <a:r>
              <a:rPr lang="en-GB" sz="2200" b="1" dirty="0"/>
              <a:t>Best Heat Transfer:</a:t>
            </a:r>
            <a:r>
              <a:rPr lang="en-GB" sz="2200" dirty="0"/>
              <a:t> TR = 2 gives the maximum heat transfer enhancement.</a:t>
            </a:r>
          </a:p>
          <a:p>
            <a:r>
              <a:rPr lang="en-GB" sz="2200" b="1" dirty="0"/>
              <a:t>Pressure Drop Penalty:</a:t>
            </a:r>
            <a:r>
              <a:rPr lang="en-GB" sz="2200" dirty="0"/>
              <a:t> Friction factor also rises at lower twist ratio due to stronger swirl generation.</a:t>
            </a:r>
          </a:p>
          <a:p>
            <a:r>
              <a:rPr lang="en-GB" sz="2200" b="1" dirty="0"/>
              <a:t>Balanced Performance:</a:t>
            </a:r>
            <a:r>
              <a:rPr lang="en-GB" sz="2200" dirty="0"/>
              <a:t> TR = 3 provides the best thermohydraulic compromise for water-based operation.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DED5A-02BA-5D4F-4E88-ED9CF4AD8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88" y="1699540"/>
            <a:ext cx="5949746" cy="39664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ECBE1-3AEC-9AB1-E927-5D941F606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3B00BF-66CA-5380-92BF-11D7F9FE3C61}"/>
              </a:ext>
            </a:extLst>
          </p:cNvPr>
          <p:cNvSpPr txBox="1"/>
          <p:nvPr/>
        </p:nvSpPr>
        <p:spPr>
          <a:xfrm>
            <a:off x="54864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5AA8"/>
                </a:solidFill>
                <a:latin typeface="Calibri"/>
              </a:defRPr>
            </a:pPr>
            <a:r>
              <a:rPr lang="en-GB" dirty="0"/>
              <a:t>Thermohydraulic Performance : Ultimate Choice Making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B7F0C-001B-4786-A220-2157224789F7}"/>
              </a:ext>
            </a:extLst>
          </p:cNvPr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6C06A3-28CC-474C-6C57-0DEC36EB4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972" y="1239248"/>
            <a:ext cx="7285705" cy="43862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C7612A-566D-6F9B-F075-86E57B1589C8}"/>
              </a:ext>
            </a:extLst>
          </p:cNvPr>
          <p:cNvSpPr txBox="1"/>
          <p:nvPr/>
        </p:nvSpPr>
        <p:spPr>
          <a:xfrm>
            <a:off x="1809132" y="5830528"/>
            <a:ext cx="7285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GO/Water being significantly high as compared to all other analysed choices of nanofluids with plane twisted tape makes its best choice.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186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12598-46E5-0B38-FA6E-AD700E49A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73CCE8-1721-799F-6AD6-A16F71137365}"/>
              </a:ext>
            </a:extLst>
          </p:cNvPr>
          <p:cNvSpPr txBox="1"/>
          <p:nvPr/>
        </p:nvSpPr>
        <p:spPr>
          <a:xfrm>
            <a:off x="54864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5AA8"/>
                </a:solidFill>
                <a:latin typeface="Calibri"/>
              </a:defRPr>
            </a:pPr>
            <a:r>
              <a:rPr lang="en-GB" dirty="0"/>
              <a:t>Validation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3D6E86-A41A-C0BF-24A9-32110D3055C6}"/>
              </a:ext>
            </a:extLst>
          </p:cNvPr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475496-9EB9-9F8B-D135-3176AC824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7" y="1999471"/>
            <a:ext cx="7452852" cy="35380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B35766-1C57-AD0E-42C5-8A9F1BEA8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451" y="2233569"/>
            <a:ext cx="3665465" cy="28918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1156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2ED5E-493A-8B4F-A684-B6D70AD37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8EC6AA-BB69-52F3-EF35-C97D6DA1DA51}"/>
              </a:ext>
            </a:extLst>
          </p:cNvPr>
          <p:cNvSpPr txBox="1"/>
          <p:nvPr/>
        </p:nvSpPr>
        <p:spPr>
          <a:xfrm>
            <a:off x="548640" y="3657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5AA8"/>
                </a:solidFill>
                <a:latin typeface="Calibri"/>
              </a:defRPr>
            </a:pPr>
            <a:r>
              <a:rPr lang="en-GB" dirty="0"/>
              <a:t>Conclusion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E5419E-3C5C-830F-2121-5A8C5B5AAAD9}"/>
              </a:ext>
            </a:extLst>
          </p:cNvPr>
          <p:cNvSpPr/>
          <p:nvPr/>
        </p:nvSpPr>
        <p:spPr>
          <a:xfrm>
            <a:off x="548640" y="1005840"/>
            <a:ext cx="10972800" cy="18288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85C86-5B03-922D-FEBD-FDB1E94DFA1E}"/>
              </a:ext>
            </a:extLst>
          </p:cNvPr>
          <p:cNvSpPr txBox="1"/>
          <p:nvPr/>
        </p:nvSpPr>
        <p:spPr>
          <a:xfrm>
            <a:off x="820042" y="1412620"/>
            <a:ext cx="504981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Performance Order:</a:t>
            </a:r>
            <a:r>
              <a:rPr lang="en-GB" sz="2000" dirty="0"/>
              <a:t> GO/water performs best, followed by CuO/water and Al₂O₃/water.</a:t>
            </a:r>
          </a:p>
          <a:p>
            <a:r>
              <a:rPr lang="en-GB" sz="2000" b="1" dirty="0"/>
              <a:t>Concentration Effect:</a:t>
            </a:r>
            <a:r>
              <a:rPr lang="en-GB" sz="2000" dirty="0"/>
              <a:t> Heat transfer enhancement improves with increasing nanoparticle concentration.</a:t>
            </a:r>
          </a:p>
          <a:p>
            <a:r>
              <a:rPr lang="en-GB" sz="2000" b="1" dirty="0"/>
              <a:t>Best Case:</a:t>
            </a:r>
            <a:r>
              <a:rPr lang="en-GB" sz="2000" dirty="0"/>
              <a:t> GO/water at 0.5% concentration gives the strongest heat transfer enhancement.</a:t>
            </a:r>
          </a:p>
          <a:p>
            <a:r>
              <a:rPr lang="en-GB" sz="2000" b="1" dirty="0"/>
              <a:t>Approximate Improvement:</a:t>
            </a:r>
            <a:r>
              <a:rPr lang="en-GB" sz="2000" dirty="0"/>
              <a:t> Nusselt number enhancement is about 34% for GO/water, 27% for CuO/water, and 22% for Al₂O₃/water.</a:t>
            </a:r>
          </a:p>
          <a:p>
            <a:r>
              <a:rPr lang="en-GB" sz="2000" b="1" dirty="0"/>
              <a:t>Trade-Off:</a:t>
            </a:r>
            <a:r>
              <a:rPr lang="en-GB" sz="2000" dirty="0"/>
              <a:t> Higher concentration also increases viscosity and pressure drop.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0B4E01-4CC3-6AF4-E828-213E4836F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124908"/>
            <a:ext cx="5653461" cy="29521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2242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2F2C2-C3A5-9C57-FC46-18A9FFF57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5116B2-7CAC-18E1-B3FC-2669B60B81A1}"/>
              </a:ext>
            </a:extLst>
          </p:cNvPr>
          <p:cNvSpPr txBox="1"/>
          <p:nvPr/>
        </p:nvSpPr>
        <p:spPr>
          <a:xfrm>
            <a:off x="3569107" y="2431025"/>
            <a:ext cx="4916129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500" b="1" dirty="0">
                <a:solidFill>
                  <a:schemeClr val="tx2"/>
                </a:solidFill>
              </a:rPr>
              <a:t>THANK YOU</a:t>
            </a:r>
            <a:endParaRPr lang="en-IN" sz="65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87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750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Raunak's PC</dc:creator>
  <cp:keywords/>
  <dc:description>generated using python-pptx</dc:description>
  <cp:lastModifiedBy>ujjawalu05@gmail.com</cp:lastModifiedBy>
  <cp:revision>9</cp:revision>
  <dcterms:created xsi:type="dcterms:W3CDTF">2013-01-27T09:14:16Z</dcterms:created>
  <dcterms:modified xsi:type="dcterms:W3CDTF">2026-04-29T08:30:51Z</dcterms:modified>
  <cp:category/>
</cp:coreProperties>
</file>